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0B1F3A"/>
                </a:solidFill>
                <a:latin typeface="Arial"/>
              </a:rPr>
              <a:t>Conversion Rate by Channel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6A-4399-8A06-2C278F7839D1}"/>
              </c:ext>
            </c:extLst>
          </c:dPt>
          <c:dPt>
            <c:idx val="1"/>
            <c:invertIfNegative val="0"/>
            <c:bubble3D val="0"/>
            <c:spPr>
              <a:solidFill>
                <a:srgbClr val="185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6A-4399-8A06-2C278F7839D1}"/>
              </c:ext>
            </c:extLst>
          </c:dPt>
          <c:dPt>
            <c:idx val="2"/>
            <c:invertIfNegative val="0"/>
            <c:bubble3D val="0"/>
            <c:spPr>
              <a:solidFill>
                <a:srgbClr val="C75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6A-4399-8A06-2C278F7839D1}"/>
              </c:ext>
            </c:extLst>
          </c:dPt>
          <c:dPt>
            <c:idx val="3"/>
            <c:invertIfNegative val="0"/>
            <c:bubble3D val="0"/>
            <c:spPr>
              <a:solidFill>
                <a:srgbClr val="6D28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6A-4399-8A06-2C278F7839D1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B6A-4399-8A06-2C278F7839D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SEO/Organic</c:v>
                </c:pt>
                <c:pt idx="1">
                  <c:v>Google Ads</c:v>
                </c:pt>
                <c:pt idx="2">
                  <c:v>Meta Ads</c:v>
                </c:pt>
                <c:pt idx="3">
                  <c:v>YouTube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30</c:v>
                </c:pt>
                <c:pt idx="2">
                  <c:v>20</c:v>
                </c:pt>
                <c:pt idx="3">
                  <c:v>16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B6A-4399-8A06-2C278F7839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339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C3A6E">
              <a:alpha val="70000"/>
            </a:srgbClr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214D8A">
              <a:alpha val="80000"/>
            </a:srgbClr>
          </a:solidFill>
          <a:ln w="12700">
            <a:solidFill>
              <a:srgbClr val="214D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56032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MIT SDE  |  2026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Analytics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 Intelligence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5D4F4"/>
                </a:solidFill>
              </a:rPr>
              <a:t> Marketing Analytics Pipeline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920240" cy="1280160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9,240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D4F4"/>
                </a:solidFill>
              </a:rPr>
              <a:t>Total Leads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383280"/>
            <a:ext cx="1920240" cy="1280160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560320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6032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D4F4"/>
                </a:solidFill>
              </a:rPr>
              <a:t>Steps Built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383280"/>
            <a:ext cx="1920240" cy="1280160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663440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D4F4"/>
                </a:solidFill>
              </a:rPr>
              <a:t>Data Modes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Data Analyst — Marketing &amp; AI Intelligence  |  MIT School of Distance Education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SLIDE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 — Leads.csv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023360" cy="41148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DATASET AT A GLANCE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4023360" cy="402336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16276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Leads.csv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4023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11480" y="205740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Rows (Leads)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05740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9,240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87168"/>
            <a:ext cx="4023360" cy="402336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11480" y="248716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Columns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24871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37 fields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16936"/>
            <a:ext cx="4023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11480" y="291693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Source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291693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Multi-channel (Google, Meta, SEO...)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346704"/>
            <a:ext cx="4023360" cy="402336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11480" y="334670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Key Field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334670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Enrolled (0 = No, 1 = Yes)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776472"/>
            <a:ext cx="402336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11480" y="377647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Time Period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45920" y="377647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Annual dataset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206240"/>
            <a:ext cx="4023360" cy="402336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11480" y="420624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Tool Used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5920" y="42062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Python + Pandas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1097280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663440" y="1097280"/>
            <a:ext cx="4160520" cy="41148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663440" y="109728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🔑  KEY COLUMNS USED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1627632"/>
            <a:ext cx="1371600" cy="384048"/>
          </a:xfrm>
          <a:prstGeom prst="rect">
            <a:avLst/>
          </a:prstGeom>
          <a:solidFill>
            <a:srgbClr val="C7ED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663440" y="16276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</a:rPr>
              <a:t>source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16276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Which channel brought the lead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2048256"/>
            <a:ext cx="1371600" cy="384048"/>
          </a:xfrm>
          <a:prstGeom prst="rect">
            <a:avLst/>
          </a:prstGeom>
          <a:solidFill>
            <a:srgbClr val="C7ED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663440" y="20482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</a:rPr>
              <a:t>enrolled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20482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Did they join? (1=Yes, 0=No)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468880"/>
            <a:ext cx="1371600" cy="384048"/>
          </a:xfrm>
          <a:prstGeom prst="rect">
            <a:avLst/>
          </a:prstGeom>
          <a:solidFill>
            <a:srgbClr val="C7ED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663440" y="2468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</a:rPr>
              <a:t>total_visits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24688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Website visits before enquiry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889504"/>
            <a:ext cx="1371600" cy="384048"/>
          </a:xfrm>
          <a:prstGeom prst="rect">
            <a:avLst/>
          </a:prstGeom>
          <a:solidFill>
            <a:srgbClr val="C7ED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663440" y="28895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</a:rPr>
              <a:t>time_on_site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80760" y="288950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Minutes spent on website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3310128"/>
            <a:ext cx="1371600" cy="384048"/>
          </a:xfrm>
          <a:prstGeom prst="rect">
            <a:avLst/>
          </a:prstGeom>
          <a:solidFill>
            <a:srgbClr val="C7ED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4663440" y="33101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</a:rPr>
              <a:t>last_activity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80760" y="33101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Last contact action taken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63440" y="3730752"/>
            <a:ext cx="1371600" cy="384048"/>
          </a:xfrm>
          <a:prstGeom prst="rect">
            <a:avLst/>
          </a:prstGeom>
          <a:solidFill>
            <a:srgbClr val="C7ED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4663440" y="37307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</a:rPr>
              <a:t>occupation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080760" y="37307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Student / Working Professional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4151376"/>
            <a:ext cx="1371600" cy="384048"/>
          </a:xfrm>
          <a:prstGeom prst="rect">
            <a:avLst/>
          </a:prstGeom>
          <a:solidFill>
            <a:srgbClr val="C7ED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4663440" y="41513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6E56"/>
                </a:solidFill>
              </a:rPr>
              <a:t>lead_id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80760" y="41513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Unique ID for each lead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D4F4"/>
                </a:solidFill>
              </a:rPr>
              <a:t>MIT SDE Lead Analytics Project  |  Data Analyst Interview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SLIDE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— CSV Analysis (Part 1)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554480" cy="54864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pd.read_csv()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9,240 rows loaded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37 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47088" y="2606040"/>
            <a:ext cx="128016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847088" y="2487168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93392" y="109728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993392" y="1097280"/>
            <a:ext cx="1554480" cy="54864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993392" y="1097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93392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Rename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39112" y="21488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Rename 10 columns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Short names for easy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code writing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2606040"/>
            <a:ext cx="128016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566160" y="2487168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12464" y="109728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712464" y="1097280"/>
            <a:ext cx="1554480" cy="548640"/>
          </a:xfrm>
          <a:prstGeom prst="rect">
            <a:avLst/>
          </a:prstGeom>
          <a:solidFill>
            <a:srgbClr val="C75B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712464" y="1097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12464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58184" y="21488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Add 'called' column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Who was contacted?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True/False flag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85232" y="2606040"/>
            <a:ext cx="128016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285232" y="2487168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31536" y="109728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431536" y="1097280"/>
            <a:ext cx="1554480" cy="5486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431536" y="1097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31536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77256" y="21488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Funnel + Channel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CPL &amp; Conversion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Lead Scoring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04304" y="2606040"/>
            <a:ext cx="128016" cy="5486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004304" y="2487168"/>
            <a:ext cx="128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50608" y="1097280"/>
            <a:ext cx="1554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150608" y="1097280"/>
            <a:ext cx="1554480" cy="54864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150608" y="1097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150608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196328" y="21488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Weekly summary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Bar charts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Top 10 leads list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solidFill>
            <a:srgbClr val="B5D4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</a:rPr>
              <a:t>💡  Each step runs as a Jupyter Notebook cell — run all cells = full analysis done in seconds!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D4F4"/>
                </a:solidFill>
              </a:rPr>
              <a:t>MIT SDE Lead Analytics Project  |  Data Analyst Interview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SLIDE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 — Lead to Enrolment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7772400" cy="594360"/>
          </a:xfrm>
          <a:prstGeom prst="rect">
            <a:avLst/>
          </a:prstGeom>
          <a:solidFill>
            <a:srgbClr val="185FA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Leads Received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49240" y="1051560"/>
            <a:ext cx="2953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9,240  (100%)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645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1965960"/>
            <a:ext cx="6217920" cy="594360"/>
          </a:xfrm>
          <a:prstGeom prst="rect">
            <a:avLst/>
          </a:prstGeom>
          <a:solidFill>
            <a:srgbClr val="0F6E5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143000" y="1965960"/>
            <a:ext cx="37307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Contacted (SMS/Call/Email)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36592" y="1965960"/>
            <a:ext cx="236281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7,392  (80%)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2560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40280" y="2880360"/>
            <a:ext cx="4663440" cy="594360"/>
          </a:xfrm>
          <a:prstGeom prst="rect">
            <a:avLst/>
          </a:prstGeom>
          <a:solidFill>
            <a:srgbClr val="C75B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377440" y="2880360"/>
            <a:ext cx="27980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CRM / Counsellor Interaction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38344" y="2880360"/>
            <a:ext cx="177210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4,527  (49%)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3474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017520" y="3794760"/>
            <a:ext cx="3108960" cy="594360"/>
          </a:xfrm>
          <a:prstGeom prst="rect">
            <a:avLst/>
          </a:prstGeom>
          <a:solidFill>
            <a:srgbClr val="B91C1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154680" y="3794760"/>
            <a:ext cx="1865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Enrolled 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82896" y="3794760"/>
            <a:ext cx="118140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3,600  (39%)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B5D4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</a:rPr>
              <a:t>📌 Key Insight: 20% of leads are never contacted — fixing this alone can add 700+ potential enrolments!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D4F4"/>
                </a:solidFill>
              </a:rPr>
              <a:t>MIT SDE Lead Analytics Project  |  Data Analyst Interview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SLIDE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— CPL &amp; Conversion Rate</a:t>
            </a:r>
            <a:endParaRPr lang="en-US" sz="2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212080" y="1005840"/>
            <a:ext cx="3657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5212080" y="1005840"/>
            <a:ext cx="3657600" cy="4114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21208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Channel Performance Summary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12080" y="1417320"/>
            <a:ext cx="3657600" cy="402336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212080" y="14173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0" y="14173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CPL (₹)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06640" y="14173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46720" y="14173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Grade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12080" y="1847088"/>
            <a:ext cx="3657600" cy="402336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212080" y="1847088"/>
            <a:ext cx="137160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Google Ads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83680" y="184708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₹78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0" y="184708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30%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46720" y="184708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212080" y="2276856"/>
            <a:ext cx="3657600" cy="402336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5212080" y="2276856"/>
            <a:ext cx="137160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SEO/Organic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83680" y="227685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₹14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06640" y="227685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27%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27685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A+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212080" y="2706624"/>
            <a:ext cx="3657600" cy="402336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212080" y="2706624"/>
            <a:ext cx="137160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Meta Ads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583680" y="270662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₹75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06640" y="270662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20%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46720" y="270662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B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212080" y="3136392"/>
            <a:ext cx="3657600" cy="402336"/>
          </a:xfrm>
          <a:prstGeom prst="rect">
            <a:avLst/>
          </a:prstGeom>
          <a:solidFill>
            <a:srgbClr val="F8FA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212080" y="31363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YouTube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583680" y="313639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₹89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406640" y="313639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16%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046720" y="313639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B-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212080" y="3566160"/>
            <a:ext cx="3657600" cy="402336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5212080" y="35661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Other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583680" y="356616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—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406640" y="35661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10%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046720" y="356616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C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C7ED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</a:rPr>
              <a:t>💡  Best Value: SEO has lowest CPL (₹14) with 27% conversion — increase organic content investment!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D4F4"/>
                </a:solidFill>
              </a:rPr>
              <a:t>MIT SDE Lead Analytics Project  |  Data Analyst Interview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SLIDE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 Model — AI Intelligence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011680" cy="4572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🌐  Website Visits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1572768"/>
            <a:ext cx="640080" cy="64008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012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30 pts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2304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85FA5"/>
                </a:solidFill>
              </a:rPr>
              <a:t>total_visits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2578608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More visits = More interest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00584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423160" y="1005840"/>
            <a:ext cx="2011680" cy="4572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42316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⏱️  Time on Site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1572768"/>
            <a:ext cx="640080" cy="640080"/>
          </a:xfrm>
          <a:prstGeom prst="ellipse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10896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30 pts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23160" y="2304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F6E56"/>
                </a:solidFill>
              </a:rPr>
              <a:t>time_on_site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96312" y="2578608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More time = Serious lead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2011680" cy="457200"/>
          </a:xfrm>
          <a:prstGeom prst="rect">
            <a:avLst/>
          </a:prstGeom>
          <a:solidFill>
            <a:srgbClr val="C75B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57200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📣  Lead Source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57800" y="1572768"/>
            <a:ext cx="640080" cy="640080"/>
          </a:xfrm>
          <a:prstGeom prst="ellipse">
            <a:avLst/>
          </a:prstGeom>
          <a:solidFill>
            <a:srgbClr val="C75B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25780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 pts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2304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C75B00"/>
                </a:solidFill>
              </a:rPr>
              <a:t>source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45152" y="2578608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Organic/Google = High intent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1005840"/>
            <a:ext cx="201168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720840" y="1005840"/>
            <a:ext cx="2011680" cy="4572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72084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💼  Occupation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1572768"/>
            <a:ext cx="640080" cy="6400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406640" y="1572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20 pts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20840" y="2304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6D28D9"/>
                </a:solidFill>
              </a:rPr>
              <a:t>occupation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93992" y="2578608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Working Prof = Can pay fees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337560"/>
            <a:ext cx="2788920" cy="1234440"/>
          </a:xfrm>
          <a:prstGeom prst="rect">
            <a:avLst/>
          </a:prstGeom>
          <a:solidFill>
            <a:srgbClr val="FEE2E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74320" y="34015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</a:rPr>
              <a:t>🔴  HIGH PRIORITY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372160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1C1C"/>
                </a:solidFill>
              </a:rPr>
              <a:t>Score &gt; 50  |  Call Immediately!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39776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91C1C"/>
                </a:solidFill>
              </a:rPr>
              <a:t>~2,100 leads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154680" y="3337560"/>
            <a:ext cx="2788920" cy="1234440"/>
          </a:xfrm>
          <a:prstGeom prst="rect">
            <a:avLst/>
          </a:prstGeom>
          <a:solidFill>
            <a:srgbClr val="FEF9C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154680" y="34015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54D0E"/>
                </a:solidFill>
              </a:rPr>
              <a:t>🟡  MEDIUM PRIORITY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154680" y="372160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54D0E"/>
                </a:solidFill>
              </a:rPr>
              <a:t>Score 31–50  |  Follow Up Today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154680" y="39776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4D0E"/>
                </a:solidFill>
              </a:rPr>
              <a:t>~3,500 leads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35040" y="3337560"/>
            <a:ext cx="2788920" cy="1234440"/>
          </a:xfrm>
          <a:prstGeom prst="rect">
            <a:avLst/>
          </a:prstGeom>
          <a:solidFill>
            <a:srgbClr val="DCFCE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035040" y="34015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</a:rPr>
              <a:t>🟢  LOW PRIORITY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35040" y="372160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6E56"/>
                </a:solidFill>
              </a:rPr>
              <a:t>Score ≤ 30  |  Nurture Slowly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35040" y="39776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</a:rPr>
              <a:t>~3,640 leads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D4F4"/>
                </a:solidFill>
              </a:rPr>
              <a:t>MIT SDE Lead Analytics Project  |  Data Analyst Interview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SLIDE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— Final Output &amp; Results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93392" cy="1463040"/>
          </a:xfrm>
          <a:prstGeom prst="rect">
            <a:avLst/>
          </a:prstGeom>
          <a:solidFill>
            <a:srgbClr val="185FA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9,240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Leads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07568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</a:rPr>
              <a:t>This week's pipeline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1993392" cy="1463040"/>
          </a:xfrm>
          <a:prstGeom prst="rect">
            <a:avLst/>
          </a:prstGeom>
          <a:solidFill>
            <a:srgbClr val="0F6E5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423160" y="105156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23160" y="180136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Contact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07568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</a:rPr>
              <a:t>7,392 leads reached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1993392" cy="1463040"/>
          </a:xfrm>
          <a:prstGeom prst="rect">
            <a:avLst/>
          </a:prstGeom>
          <a:solidFill>
            <a:srgbClr val="C75B0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0" y="105156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572000" y="180136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Enrolment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07568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</a:rPr>
              <a:t>3,600 enrolled 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1005840"/>
            <a:ext cx="1993392" cy="1463040"/>
          </a:xfrm>
          <a:prstGeom prst="rect">
            <a:avLst/>
          </a:prstGeom>
          <a:solidFill>
            <a:srgbClr val="B91C1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720840" y="1051560"/>
            <a:ext cx="199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720840" y="1801368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 Priority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0840" y="207568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0000"/>
                </a:solidFill>
              </a:rPr>
              <a:t>Call these FIRST!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651760"/>
            <a:ext cx="4206240" cy="205740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74320" y="26517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PYTHON OUTPUT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92608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WEEKLY REPORT — MIT SDE =====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Leads  : 9,240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Contacted    : 7,392  (80.0%)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Enrolled     : 3,600  (39.0%)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Priority: 2,100 leads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 BY CHANNEL: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Ads : 30.0%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SEO        : 27.0%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 Ads   : 20.0%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51760"/>
            <a:ext cx="420624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663440" y="2651760"/>
            <a:ext cx="4206240" cy="32004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663440" y="26517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THIS GIVES MANAGEMENT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01752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✅  One-click weekly automated report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34670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✅  Which channel to increase budget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67588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✅  Which leads counsellors call first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00507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✅  Enrolment forecast for the month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433425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✅  Where leads are dropping off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D4F4"/>
                </a:solidFill>
              </a:rPr>
              <a:t>MIT SDE Lead Analytics Project  |  Data Analyst Interview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SLIDE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Live Data Analysis At The Job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93192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📁  CSV APPROACH (Current)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Static file — same data every run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0756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 update — you replace the 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 offline — no internet needed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0815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Great for: learning &amp; interviews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5844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pd.read_csv('Leads.csv')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00584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937760" y="1005840"/>
            <a:ext cx="3931920" cy="4572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93776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 LIVE DATA APPROACH (At Job)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15727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Always fresh — today's CRM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07568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 updates — no manual 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57860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Connected to CRM (Meritto/ExtraEdge)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0815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Used daily at MIT SDE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35844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pd.read_sql('SELECT * FROM leads', engine)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60520" y="22860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VS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A3A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🔑  ONLY 1 LINE CHANGES IN YOUR ENTIRE CODE — everything else (funnel, scoring, report) stays SAME!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MIT SDE Lead Analytics Project  |  Part 2 — Live Data Training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SLIDE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Pipeline — 3 Real Scenarios at MIT SDE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8892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788920" cy="50292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SQL Database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04288" y="1078992"/>
            <a:ext cx="685800" cy="2377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304288" y="107899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Most Common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152704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85FA5"/>
                </a:solidFill>
              </a:rPr>
              <a:t>IT Team Provides Access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828800"/>
            <a:ext cx="2633472" cy="1280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1874520"/>
            <a:ext cx="26060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= create_engine(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'mysql://user:pass@server/mitSDE'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pd.read_sql(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'SELECT * FROM leads', engine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3154680"/>
            <a:ext cx="263347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IT team gives username, password &amp; server address. Connect once — data always live from CRM.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78892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788920" cy="50292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00400" y="1005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Google Sheets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30368" y="1078992"/>
            <a:ext cx="685800" cy="2377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230368" y="107899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Easiest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0" y="152704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F6E56"/>
                </a:solidFill>
              </a:rPr>
              <a:t>Indian EdTech Favourite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73552" y="1828800"/>
            <a:ext cx="2633472" cy="1280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291840" y="1874520"/>
            <a:ext cx="26060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sheet_url = 'https://docs.google.com/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spreadsheets/d/{ID}/export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?format=csv'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pd.read_csv(sheet_url)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73552" y="3154680"/>
            <a:ext cx="263347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Team shares a Google Sheet. Ask manager to set sharing to 'Anyone can view'. No installation needed!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005840"/>
            <a:ext cx="278892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126480" y="1005840"/>
            <a:ext cx="2788920" cy="502920"/>
          </a:xfrm>
          <a:prstGeom prst="rect">
            <a:avLst/>
          </a:prstGeom>
          <a:solidFill>
            <a:srgbClr val="C75B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126480" y="1005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Daily CRM Export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56448" y="1078992"/>
            <a:ext cx="685800" cy="2377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156448" y="107899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F3A"/>
                </a:solidFill>
              </a:rPr>
              <a:t>Auto CSV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152704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75B00"/>
                </a:solidFill>
              </a:rPr>
              <a:t>Meritto / ExtraEdge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1828800"/>
            <a:ext cx="2633472" cy="1280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217920" y="1874520"/>
            <a:ext cx="26060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 = max(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glob('exports/*.csv'),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key=os.path.getctime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pd.read_csv(latest)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99632" y="3154680"/>
            <a:ext cx="263347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CRM drops a new CSV into a folder every morning. Python automatically picks the latest file.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MIT SDE Lead Analytics Project  |  Part 2 — Live Data Training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C3A6E"/>
          </a:solidFill>
          <a:ln w="12700">
            <a:solidFill>
              <a:srgbClr val="1C3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F3A"/>
                </a:solidFill>
              </a:rPr>
              <a:t>SLIDE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788920" cy="1371600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109728" cy="13716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38912" y="1143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Funnel Built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</a:rPr>
              <a:t>Complete lead → enrolment tracking pipeline with drop-off identification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51560"/>
            <a:ext cx="2788920" cy="1371600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109728" cy="13716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64992" y="1143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CPL Optimised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</a:rPr>
              <a:t>Channel-wise CPL &amp; conversion analysis to guide budget decisions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051560"/>
            <a:ext cx="2788920" cy="1371600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109728" cy="1371600"/>
          </a:xfrm>
          <a:prstGeom prst="rect">
            <a:avLst/>
          </a:prstGeom>
          <a:solidFill>
            <a:srgbClr val="C75B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291072" y="1143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Lead Scoring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1508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</a:rPr>
              <a:t>0-100 scoring model helps counsellors prioritise high-intent leads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606040"/>
            <a:ext cx="2788920" cy="1371600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74320" y="2606040"/>
            <a:ext cx="109728" cy="13716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38912" y="2697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Auto Reports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063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</a:rPr>
              <a:t>Weekly report runs in one click — saves management hours every week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606040"/>
            <a:ext cx="2788920" cy="1371600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200400" y="2606040"/>
            <a:ext cx="109728" cy="137160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364992" y="2697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Live-Ready Code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64992" y="3063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</a:rPr>
              <a:t>One line change: read_csv → read_sql connects to any live database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2606040"/>
            <a:ext cx="2788920" cy="1371600"/>
          </a:xfrm>
          <a:prstGeom prst="rect">
            <a:avLst/>
          </a:prstGeom>
          <a:solidFill>
            <a:srgbClr val="1A3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126480" y="2606040"/>
            <a:ext cx="109728" cy="13716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291072" y="2697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Dashboard-Ready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91072" y="3063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</a:rPr>
              <a:t>Outputs connect to Looker Studio / Power BI for leadership view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315968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Thank You  |  Data Analyst — Marketing &amp; AI Intelligence  |  MIT SDE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1135</Words>
  <Application>Microsoft Office PowerPoint</Application>
  <PresentationFormat>On-screen Show (16:9)</PresentationFormat>
  <Paragraphs>254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 SDE Lead Analytics Project</dc:title>
  <dc:subject>PptxGenJS Presentation</dc:subject>
  <dc:creator>Data Analyst - Marketing &amp; AI Intelligence</dc:creator>
  <cp:lastModifiedBy>Satish Somase</cp:lastModifiedBy>
  <cp:revision>2</cp:revision>
  <dcterms:created xsi:type="dcterms:W3CDTF">2026-03-19T07:15:05Z</dcterms:created>
  <dcterms:modified xsi:type="dcterms:W3CDTF">2026-03-19T18:12:18Z</dcterms:modified>
</cp:coreProperties>
</file>